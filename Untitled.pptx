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Raleway Medium" pitchFamily="2"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6" d="100"/>
          <a:sy n="76" d="100"/>
        </p:scale>
        <p:origin x="33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9461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437" y="1901428"/>
            <a:ext cx="7415927" cy="1371600"/>
          </a:xfrm>
          <a:prstGeom prst="rect">
            <a:avLst/>
          </a:prstGeom>
          <a:noFill/>
          <a:ln/>
        </p:spPr>
        <p:txBody>
          <a:bodyPr wrap="squar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Angular Product Inventory Management</a:t>
            </a:r>
            <a:endParaRPr lang="en-US" sz="4300" dirty="0"/>
          </a:p>
        </p:txBody>
      </p:sp>
      <p:sp>
        <p:nvSpPr>
          <p:cNvPr id="4" name="Text 1"/>
          <p:cNvSpPr/>
          <p:nvPr/>
        </p:nvSpPr>
        <p:spPr>
          <a:xfrm>
            <a:off x="6350437" y="3643313"/>
            <a:ext cx="7415927" cy="1975247"/>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Technical Design Document for an Angular-based product inventory management system. This document outlines the system's architecture, dependencies, file structure, and functionalities. It serves as a reference for developers and stakeholders involved in the project.</a:t>
            </a:r>
            <a:endParaRPr lang="en-US" sz="1900" dirty="0"/>
          </a:p>
        </p:txBody>
      </p:sp>
      <p:sp>
        <p:nvSpPr>
          <p:cNvPr id="7" name="Text 3"/>
          <p:cNvSpPr/>
          <p:nvPr/>
        </p:nvSpPr>
        <p:spPr>
          <a:xfrm>
            <a:off x="6868716" y="5896213"/>
            <a:ext cx="2062758" cy="431959"/>
          </a:xfrm>
          <a:prstGeom prst="rect">
            <a:avLst/>
          </a:prstGeom>
          <a:noFill/>
          <a:ln/>
        </p:spPr>
        <p:txBody>
          <a:bodyPr wrap="none" lIns="0" tIns="0" rIns="0" bIns="0" rtlCol="0" anchor="t"/>
          <a:lstStyle/>
          <a:p>
            <a:pPr marL="0" indent="0" algn="l">
              <a:lnSpc>
                <a:spcPts val="3400"/>
              </a:lnSpc>
              <a:buNone/>
            </a:pP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4037" y="1733431"/>
            <a:ext cx="5486400" cy="685800"/>
          </a:xfrm>
          <a:prstGeom prst="rect">
            <a:avLst/>
          </a:prstGeom>
          <a:noFill/>
          <a:ln/>
        </p:spPr>
        <p:txBody>
          <a:bodyPr wrap="non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Project Scope</a:t>
            </a:r>
            <a:endParaRPr lang="en-US" sz="4300" dirty="0"/>
          </a:p>
        </p:txBody>
      </p:sp>
      <p:sp>
        <p:nvSpPr>
          <p:cNvPr id="3" name="Text 1"/>
          <p:cNvSpPr/>
          <p:nvPr/>
        </p:nvSpPr>
        <p:spPr>
          <a:xfrm>
            <a:off x="864037" y="3036332"/>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FFE14D"/>
                </a:solidFill>
                <a:latin typeface="Comfortaa Bold" pitchFamily="34" charset="0"/>
                <a:ea typeface="Comfortaa Bold" pitchFamily="34" charset="-122"/>
                <a:cs typeface="Comfortaa Bold" pitchFamily="34" charset="-120"/>
              </a:rPr>
              <a:t>Included</a:t>
            </a:r>
            <a:endParaRPr lang="en-US" sz="2150" dirty="0"/>
          </a:p>
        </p:txBody>
      </p:sp>
      <p:sp>
        <p:nvSpPr>
          <p:cNvPr id="4" name="Text 2"/>
          <p:cNvSpPr/>
          <p:nvPr/>
        </p:nvSpPr>
        <p:spPr>
          <a:xfrm>
            <a:off x="864037" y="3626048"/>
            <a:ext cx="6150054" cy="1185148"/>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Environment Specification, System Requirements, Folder Structure, Module &amp; Component Breakdown, API Services, Authentication Flow, Issues &amp; Risks.</a:t>
            </a:r>
            <a:endParaRPr lang="en-US" sz="1900" dirty="0"/>
          </a:p>
        </p:txBody>
      </p:sp>
      <p:sp>
        <p:nvSpPr>
          <p:cNvPr id="5" name="Text 3"/>
          <p:cNvSpPr/>
          <p:nvPr/>
        </p:nvSpPr>
        <p:spPr>
          <a:xfrm>
            <a:off x="7623929" y="3036332"/>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FFE14D"/>
                </a:solidFill>
                <a:latin typeface="Comfortaa Bold" pitchFamily="34" charset="0"/>
                <a:ea typeface="Comfortaa Bold" pitchFamily="34" charset="-122"/>
                <a:cs typeface="Comfortaa Bold" pitchFamily="34" charset="-120"/>
              </a:rPr>
              <a:t>Not Included</a:t>
            </a:r>
            <a:endParaRPr lang="en-US" sz="2150" dirty="0"/>
          </a:p>
        </p:txBody>
      </p:sp>
      <p:sp>
        <p:nvSpPr>
          <p:cNvPr id="6" name="Text 4"/>
          <p:cNvSpPr/>
          <p:nvPr/>
        </p:nvSpPr>
        <p:spPr>
          <a:xfrm>
            <a:off x="7623929" y="3626048"/>
            <a:ext cx="6150054" cy="790099"/>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Business Requirements, Production Deployment Strategy, Real Backend API Integration.</a:t>
            </a:r>
            <a:endParaRPr lang="en-US" sz="1900" dirty="0"/>
          </a:p>
        </p:txBody>
      </p:sp>
      <p:sp>
        <p:nvSpPr>
          <p:cNvPr id="7" name="Text 5"/>
          <p:cNvSpPr/>
          <p:nvPr/>
        </p:nvSpPr>
        <p:spPr>
          <a:xfrm>
            <a:off x="864037" y="5311021"/>
            <a:ext cx="12902327" cy="1185148"/>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The scope defines what aspects of the project are covered in this document. It includes the environment, system requirements, folder structure, modules, API services, authentication, and risks. It excludes business requirements, deployment strategy, and real backend API integration.</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778073"/>
            <a:ext cx="7192685" cy="685800"/>
          </a:xfrm>
          <a:prstGeom prst="rect">
            <a:avLst/>
          </a:prstGeom>
          <a:noFill/>
          <a:ln/>
        </p:spPr>
        <p:txBody>
          <a:bodyPr wrap="non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Functional Requirements</a:t>
            </a:r>
            <a:endParaRPr lang="en-US" sz="4300" dirty="0"/>
          </a:p>
        </p:txBody>
      </p:sp>
      <p:sp>
        <p:nvSpPr>
          <p:cNvPr id="4" name="Shape 1"/>
          <p:cNvSpPr/>
          <p:nvPr/>
        </p:nvSpPr>
        <p:spPr>
          <a:xfrm>
            <a:off x="864037" y="2111812"/>
            <a:ext cx="555427" cy="555427"/>
          </a:xfrm>
          <a:prstGeom prst="roundRect">
            <a:avLst>
              <a:gd name="adj" fmla="val 66675"/>
            </a:avLst>
          </a:prstGeom>
          <a:solidFill>
            <a:srgbClr val="46464A"/>
          </a:solidFill>
          <a:ln/>
        </p:spPr>
      </p:sp>
      <p:sp>
        <p:nvSpPr>
          <p:cNvPr id="5" name="Text 2"/>
          <p:cNvSpPr/>
          <p:nvPr/>
        </p:nvSpPr>
        <p:spPr>
          <a:xfrm>
            <a:off x="977146" y="2183725"/>
            <a:ext cx="329089" cy="411480"/>
          </a:xfrm>
          <a:prstGeom prst="rect">
            <a:avLst/>
          </a:prstGeom>
          <a:noFill/>
          <a:ln/>
        </p:spPr>
        <p:txBody>
          <a:bodyPr wrap="none" lIns="0" tIns="0" rIns="0" bIns="0" rtlCol="0" anchor="t"/>
          <a:lstStyle/>
          <a:p>
            <a:pPr marL="0" indent="0" algn="ctr">
              <a:lnSpc>
                <a:spcPts val="2550"/>
              </a:lnSpc>
              <a:buNone/>
            </a:pPr>
            <a:r>
              <a:rPr lang="en-US" sz="2550" b="1" dirty="0">
                <a:solidFill>
                  <a:srgbClr val="D7D4CC"/>
                </a:solidFill>
                <a:latin typeface="Comfortaa Bold" pitchFamily="34" charset="0"/>
                <a:ea typeface="Comfortaa Bold" pitchFamily="34" charset="-122"/>
                <a:cs typeface="Comfortaa Bold" pitchFamily="34" charset="-120"/>
              </a:rPr>
              <a:t>1</a:t>
            </a:r>
            <a:endParaRPr lang="en-US" sz="2550" dirty="0"/>
          </a:p>
        </p:txBody>
      </p:sp>
      <p:sp>
        <p:nvSpPr>
          <p:cNvPr id="6" name="Text 3"/>
          <p:cNvSpPr/>
          <p:nvPr/>
        </p:nvSpPr>
        <p:spPr>
          <a:xfrm>
            <a:off x="1666280" y="2111812"/>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Welcome Page</a:t>
            </a:r>
            <a:endParaRPr lang="en-US" sz="2150" dirty="0"/>
          </a:p>
        </p:txBody>
      </p:sp>
      <p:sp>
        <p:nvSpPr>
          <p:cNvPr id="7" name="Text 4"/>
          <p:cNvSpPr/>
          <p:nvPr/>
        </p:nvSpPr>
        <p:spPr>
          <a:xfrm>
            <a:off x="1666280" y="2602825"/>
            <a:ext cx="6613684" cy="1185148"/>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Default landing page with navigation links: Products, About, Sign In, and Register. Persistent footer displaying "© 2024 Products Inventory" on all pages.</a:t>
            </a:r>
            <a:endParaRPr lang="en-US" sz="1900" dirty="0"/>
          </a:p>
        </p:txBody>
      </p:sp>
      <p:sp>
        <p:nvSpPr>
          <p:cNvPr id="8" name="Shape 5"/>
          <p:cNvSpPr/>
          <p:nvPr/>
        </p:nvSpPr>
        <p:spPr>
          <a:xfrm>
            <a:off x="864037" y="4312444"/>
            <a:ext cx="555427" cy="555427"/>
          </a:xfrm>
          <a:prstGeom prst="roundRect">
            <a:avLst>
              <a:gd name="adj" fmla="val 66675"/>
            </a:avLst>
          </a:prstGeom>
          <a:solidFill>
            <a:srgbClr val="46464A"/>
          </a:solidFill>
          <a:ln/>
        </p:spPr>
      </p:sp>
      <p:sp>
        <p:nvSpPr>
          <p:cNvPr id="9" name="Text 6"/>
          <p:cNvSpPr/>
          <p:nvPr/>
        </p:nvSpPr>
        <p:spPr>
          <a:xfrm>
            <a:off x="977146" y="4384358"/>
            <a:ext cx="329089" cy="411480"/>
          </a:xfrm>
          <a:prstGeom prst="rect">
            <a:avLst/>
          </a:prstGeom>
          <a:noFill/>
          <a:ln/>
        </p:spPr>
        <p:txBody>
          <a:bodyPr wrap="none" lIns="0" tIns="0" rIns="0" bIns="0" rtlCol="0" anchor="t"/>
          <a:lstStyle/>
          <a:p>
            <a:pPr marL="0" indent="0" algn="ctr">
              <a:lnSpc>
                <a:spcPts val="2550"/>
              </a:lnSpc>
              <a:buNone/>
            </a:pPr>
            <a:r>
              <a:rPr lang="en-US" sz="2550" b="1" dirty="0">
                <a:solidFill>
                  <a:srgbClr val="D7D4CC"/>
                </a:solidFill>
                <a:latin typeface="Comfortaa Bold" pitchFamily="34" charset="0"/>
                <a:ea typeface="Comfortaa Bold" pitchFamily="34" charset="-122"/>
                <a:cs typeface="Comfortaa Bold" pitchFamily="34" charset="-120"/>
              </a:rPr>
              <a:t>2</a:t>
            </a:r>
            <a:endParaRPr lang="en-US" sz="2550" dirty="0"/>
          </a:p>
        </p:txBody>
      </p:sp>
      <p:sp>
        <p:nvSpPr>
          <p:cNvPr id="10" name="Text 7"/>
          <p:cNvSpPr/>
          <p:nvPr/>
        </p:nvSpPr>
        <p:spPr>
          <a:xfrm>
            <a:off x="1666280" y="4312444"/>
            <a:ext cx="3378041"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Logged-in User Actions</a:t>
            </a:r>
            <a:endParaRPr lang="en-US" sz="2150" dirty="0"/>
          </a:p>
        </p:txBody>
      </p:sp>
      <p:sp>
        <p:nvSpPr>
          <p:cNvPr id="11" name="Text 8"/>
          <p:cNvSpPr/>
          <p:nvPr/>
        </p:nvSpPr>
        <p:spPr>
          <a:xfrm>
            <a:off x="1666280" y="4803458"/>
            <a:ext cx="6613684" cy="1185148"/>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Authenticated users can perform CRUD operations (Create, Read, Update, Delete) on products. Navigation updates to show Products, About, and Logout links.</a:t>
            </a:r>
            <a:endParaRPr lang="en-US" sz="1900" dirty="0"/>
          </a:p>
        </p:txBody>
      </p:sp>
      <p:sp>
        <p:nvSpPr>
          <p:cNvPr id="12" name="Text 9"/>
          <p:cNvSpPr/>
          <p:nvPr/>
        </p:nvSpPr>
        <p:spPr>
          <a:xfrm>
            <a:off x="864037" y="6266259"/>
            <a:ext cx="7415927" cy="1185148"/>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The system provides functionalities for adding, updating, viewing, and deleting products. The project is built using Angular 15, Bootstrap, and JSON Server for mock API handling.</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437" y="992624"/>
            <a:ext cx="6153031" cy="685800"/>
          </a:xfrm>
          <a:prstGeom prst="rect">
            <a:avLst/>
          </a:prstGeom>
          <a:noFill/>
          <a:ln/>
        </p:spPr>
        <p:txBody>
          <a:bodyPr wrap="non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System Requirements</a:t>
            </a:r>
            <a:endParaRPr lang="en-US" sz="4300" dirty="0"/>
          </a:p>
        </p:txBody>
      </p:sp>
      <p:pic>
        <p:nvPicPr>
          <p:cNvPr id="4" name="Image 1" descr="preencoded.png"/>
          <p:cNvPicPr>
            <a:picLocks noChangeAspect="1"/>
          </p:cNvPicPr>
          <p:nvPr/>
        </p:nvPicPr>
        <p:blipFill>
          <a:blip r:embed="rId4"/>
          <a:stretch>
            <a:fillRect/>
          </a:stretch>
        </p:blipFill>
        <p:spPr>
          <a:xfrm>
            <a:off x="6350437" y="2048708"/>
            <a:ext cx="617220" cy="617220"/>
          </a:xfrm>
          <a:prstGeom prst="rect">
            <a:avLst/>
          </a:prstGeom>
        </p:spPr>
      </p:pic>
      <p:sp>
        <p:nvSpPr>
          <p:cNvPr id="5" name="Text 1"/>
          <p:cNvSpPr/>
          <p:nvPr/>
        </p:nvSpPr>
        <p:spPr>
          <a:xfrm>
            <a:off x="6350437" y="2912745"/>
            <a:ext cx="2975372"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Development System</a:t>
            </a:r>
            <a:endParaRPr lang="en-US" sz="2150" dirty="0"/>
          </a:p>
        </p:txBody>
      </p:sp>
      <p:sp>
        <p:nvSpPr>
          <p:cNvPr id="6" name="Text 2"/>
          <p:cNvSpPr/>
          <p:nvPr/>
        </p:nvSpPr>
        <p:spPr>
          <a:xfrm>
            <a:off x="6350437" y="3403759"/>
            <a:ext cx="3522821" cy="1975247"/>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Operating System: Windows / Linux / macOS. Processor: Intel Core i5 or higher. RAM: 8GB minimum. Storage: 500MB minimum.</a:t>
            </a:r>
            <a:endParaRPr lang="en-US" sz="1900" dirty="0"/>
          </a:p>
        </p:txBody>
      </p:sp>
      <p:pic>
        <p:nvPicPr>
          <p:cNvPr id="7" name="Image 2" descr="preencoded.png"/>
          <p:cNvPicPr>
            <a:picLocks noChangeAspect="1"/>
          </p:cNvPicPr>
          <p:nvPr/>
        </p:nvPicPr>
        <p:blipFill>
          <a:blip r:embed="rId5"/>
          <a:stretch>
            <a:fillRect/>
          </a:stretch>
        </p:blipFill>
        <p:spPr>
          <a:xfrm>
            <a:off x="10243542" y="2048708"/>
            <a:ext cx="617220" cy="617220"/>
          </a:xfrm>
          <a:prstGeom prst="rect">
            <a:avLst/>
          </a:prstGeom>
        </p:spPr>
      </p:pic>
      <p:sp>
        <p:nvSpPr>
          <p:cNvPr id="8" name="Text 3"/>
          <p:cNvSpPr/>
          <p:nvPr/>
        </p:nvSpPr>
        <p:spPr>
          <a:xfrm>
            <a:off x="10243542" y="2912745"/>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Software</a:t>
            </a:r>
            <a:endParaRPr lang="en-US" sz="2150" dirty="0"/>
          </a:p>
        </p:txBody>
      </p:sp>
      <p:sp>
        <p:nvSpPr>
          <p:cNvPr id="9" name="Text 4"/>
          <p:cNvSpPr/>
          <p:nvPr/>
        </p:nvSpPr>
        <p:spPr>
          <a:xfrm>
            <a:off x="10243542" y="3403759"/>
            <a:ext cx="3522821" cy="1580198"/>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Node.js (v14 or later), Angular CLI (v15.0.0), JSON Server (for mock API), Jest (for unit testing).</a:t>
            </a:r>
            <a:endParaRPr lang="en-US" sz="1900" dirty="0"/>
          </a:p>
        </p:txBody>
      </p:sp>
      <p:sp>
        <p:nvSpPr>
          <p:cNvPr id="10" name="Text 5"/>
          <p:cNvSpPr/>
          <p:nvPr/>
        </p:nvSpPr>
        <p:spPr>
          <a:xfrm>
            <a:off x="6350437" y="5656659"/>
            <a:ext cx="7415927" cy="1580198"/>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The development system requires a modern operating system, a decent processor, sufficient RAM, and storage. Software requirements include Node.js, Angular CLI, JSON Server, and Jest.</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46866"/>
          </a:xfrm>
          <a:prstGeom prst="rect">
            <a:avLst/>
          </a:prstGeom>
        </p:spPr>
      </p:pic>
      <p:sp>
        <p:nvSpPr>
          <p:cNvPr id="3" name="Text 0"/>
          <p:cNvSpPr/>
          <p:nvPr/>
        </p:nvSpPr>
        <p:spPr>
          <a:xfrm>
            <a:off x="713065" y="3108841"/>
            <a:ext cx="4527828" cy="565904"/>
          </a:xfrm>
          <a:prstGeom prst="rect">
            <a:avLst/>
          </a:prstGeom>
          <a:noFill/>
          <a:ln/>
        </p:spPr>
        <p:txBody>
          <a:bodyPr wrap="none" lIns="0" tIns="0" rIns="0" bIns="0" rtlCol="0" anchor="t"/>
          <a:lstStyle/>
          <a:p>
            <a:pPr marL="0" indent="0" algn="l">
              <a:lnSpc>
                <a:spcPts val="4450"/>
              </a:lnSpc>
              <a:buNone/>
            </a:pPr>
            <a:r>
              <a:rPr lang="en-US" sz="3550" b="1" dirty="0">
                <a:solidFill>
                  <a:srgbClr val="FFE14D"/>
                </a:solidFill>
                <a:latin typeface="Comfortaa Bold" pitchFamily="34" charset="0"/>
                <a:ea typeface="Comfortaa Bold" pitchFamily="34" charset="-122"/>
                <a:cs typeface="Comfortaa Bold" pitchFamily="34" charset="-120"/>
              </a:rPr>
              <a:t>Folder Structure</a:t>
            </a:r>
            <a:endParaRPr lang="en-US" sz="3550" dirty="0"/>
          </a:p>
        </p:txBody>
      </p:sp>
      <p:sp>
        <p:nvSpPr>
          <p:cNvPr id="4" name="Shape 1"/>
          <p:cNvSpPr/>
          <p:nvPr/>
        </p:nvSpPr>
        <p:spPr>
          <a:xfrm>
            <a:off x="713065" y="3980378"/>
            <a:ext cx="6500336" cy="1464231"/>
          </a:xfrm>
          <a:prstGeom prst="roundRect">
            <a:avLst>
              <a:gd name="adj" fmla="val 20873"/>
            </a:avLst>
          </a:prstGeom>
          <a:solidFill>
            <a:srgbClr val="46464A"/>
          </a:solidFill>
          <a:ln/>
        </p:spPr>
      </p:sp>
      <p:sp>
        <p:nvSpPr>
          <p:cNvPr id="5" name="Text 2"/>
          <p:cNvSpPr/>
          <p:nvPr/>
        </p:nvSpPr>
        <p:spPr>
          <a:xfrm>
            <a:off x="916781" y="4184094"/>
            <a:ext cx="2263854" cy="282893"/>
          </a:xfrm>
          <a:prstGeom prst="rect">
            <a:avLst/>
          </a:prstGeom>
          <a:noFill/>
          <a:ln/>
        </p:spPr>
        <p:txBody>
          <a:bodyPr wrap="none" lIns="0" tIns="0" rIns="0" bIns="0" rtlCol="0" anchor="t"/>
          <a:lstStyle/>
          <a:p>
            <a:pPr marL="0" indent="0" algn="l">
              <a:lnSpc>
                <a:spcPts val="2200"/>
              </a:lnSpc>
              <a:buNone/>
            </a:pPr>
            <a:r>
              <a:rPr lang="en-US" sz="1750" b="1" dirty="0">
                <a:solidFill>
                  <a:srgbClr val="D7D4CC"/>
                </a:solidFill>
                <a:latin typeface="Comfortaa Bold" pitchFamily="34" charset="0"/>
                <a:ea typeface="Comfortaa Bold" pitchFamily="34" charset="-122"/>
                <a:cs typeface="Comfortaa Bold" pitchFamily="34" charset="-120"/>
              </a:rPr>
              <a:t>Core</a:t>
            </a:r>
            <a:endParaRPr lang="en-US" sz="1750" dirty="0"/>
          </a:p>
        </p:txBody>
      </p:sp>
      <p:sp>
        <p:nvSpPr>
          <p:cNvPr id="6" name="Text 3"/>
          <p:cNvSpPr/>
          <p:nvPr/>
        </p:nvSpPr>
        <p:spPr>
          <a:xfrm>
            <a:off x="916781" y="4589145"/>
            <a:ext cx="6092904" cy="325874"/>
          </a:xfrm>
          <a:prstGeom prst="rect">
            <a:avLst/>
          </a:prstGeom>
          <a:noFill/>
          <a:ln/>
        </p:spPr>
        <p:txBody>
          <a:bodyPr wrap="none" lIns="0" tIns="0" rIns="0" bIns="0" rtlCol="0" anchor="t"/>
          <a:lstStyle/>
          <a:p>
            <a:pPr marL="0" indent="0" algn="l">
              <a:lnSpc>
                <a:spcPts val="2550"/>
              </a:lnSpc>
              <a:buNone/>
            </a:pPr>
            <a:r>
              <a:rPr lang="en-US" sz="1600" dirty="0">
                <a:solidFill>
                  <a:srgbClr val="D7D4CC"/>
                </a:solidFill>
                <a:latin typeface="Raleway Medium" pitchFamily="34" charset="0"/>
                <a:ea typeface="Raleway Medium" pitchFamily="34" charset="-122"/>
                <a:cs typeface="Raleway Medium" pitchFamily="34" charset="-120"/>
              </a:rPr>
              <a:t>Contains global services like DataService and AuthService.</a:t>
            </a:r>
            <a:endParaRPr lang="en-US" sz="1600" dirty="0"/>
          </a:p>
        </p:txBody>
      </p:sp>
      <p:sp>
        <p:nvSpPr>
          <p:cNvPr id="7" name="Shape 4"/>
          <p:cNvSpPr/>
          <p:nvPr/>
        </p:nvSpPr>
        <p:spPr>
          <a:xfrm>
            <a:off x="7417118" y="3980378"/>
            <a:ext cx="6500336" cy="1464231"/>
          </a:xfrm>
          <a:prstGeom prst="roundRect">
            <a:avLst>
              <a:gd name="adj" fmla="val 20873"/>
            </a:avLst>
          </a:prstGeom>
          <a:solidFill>
            <a:srgbClr val="46464A"/>
          </a:solidFill>
          <a:ln/>
        </p:spPr>
      </p:sp>
      <p:sp>
        <p:nvSpPr>
          <p:cNvPr id="8" name="Text 5"/>
          <p:cNvSpPr/>
          <p:nvPr/>
        </p:nvSpPr>
        <p:spPr>
          <a:xfrm>
            <a:off x="7620833" y="4184094"/>
            <a:ext cx="2263854" cy="282893"/>
          </a:xfrm>
          <a:prstGeom prst="rect">
            <a:avLst/>
          </a:prstGeom>
          <a:noFill/>
          <a:ln/>
        </p:spPr>
        <p:txBody>
          <a:bodyPr wrap="none" lIns="0" tIns="0" rIns="0" bIns="0" rtlCol="0" anchor="t"/>
          <a:lstStyle/>
          <a:p>
            <a:pPr marL="0" indent="0" algn="l">
              <a:lnSpc>
                <a:spcPts val="2200"/>
              </a:lnSpc>
              <a:buNone/>
            </a:pPr>
            <a:r>
              <a:rPr lang="en-US" sz="1750" b="1" dirty="0">
                <a:solidFill>
                  <a:srgbClr val="D7D4CC"/>
                </a:solidFill>
                <a:latin typeface="Comfortaa Bold" pitchFamily="34" charset="0"/>
                <a:ea typeface="Comfortaa Bold" pitchFamily="34" charset="-122"/>
                <a:cs typeface="Comfortaa Bold" pitchFamily="34" charset="-120"/>
              </a:rPr>
              <a:t>Features</a:t>
            </a:r>
            <a:endParaRPr lang="en-US" sz="1750" dirty="0"/>
          </a:p>
        </p:txBody>
      </p:sp>
      <p:sp>
        <p:nvSpPr>
          <p:cNvPr id="9" name="Text 6"/>
          <p:cNvSpPr/>
          <p:nvPr/>
        </p:nvSpPr>
        <p:spPr>
          <a:xfrm>
            <a:off x="7620833" y="4589145"/>
            <a:ext cx="6092904" cy="651748"/>
          </a:xfrm>
          <a:prstGeom prst="rect">
            <a:avLst/>
          </a:prstGeom>
          <a:noFill/>
          <a:ln/>
        </p:spPr>
        <p:txBody>
          <a:bodyPr wrap="square" lIns="0" tIns="0" rIns="0" bIns="0" rtlCol="0" anchor="t"/>
          <a:lstStyle/>
          <a:p>
            <a:pPr marL="0" indent="0" algn="l">
              <a:lnSpc>
                <a:spcPts val="2550"/>
              </a:lnSpc>
              <a:buNone/>
            </a:pPr>
            <a:r>
              <a:rPr lang="en-US" sz="1600" dirty="0">
                <a:solidFill>
                  <a:srgbClr val="D7D4CC"/>
                </a:solidFill>
                <a:latin typeface="Raleway Medium" pitchFamily="34" charset="0"/>
                <a:ea typeface="Raleway Medium" pitchFamily="34" charset="-122"/>
                <a:cs typeface="Raleway Medium" pitchFamily="34" charset="-120"/>
              </a:rPr>
              <a:t>Feature modules: inventory/ (Product Management), auth/ (Authentication), about/ (Informational pages).</a:t>
            </a:r>
            <a:endParaRPr lang="en-US" sz="1600" dirty="0"/>
          </a:p>
        </p:txBody>
      </p:sp>
      <p:sp>
        <p:nvSpPr>
          <p:cNvPr id="10" name="Shape 7"/>
          <p:cNvSpPr/>
          <p:nvPr/>
        </p:nvSpPr>
        <p:spPr>
          <a:xfrm>
            <a:off x="713065" y="5648325"/>
            <a:ext cx="6500336" cy="1138357"/>
          </a:xfrm>
          <a:prstGeom prst="roundRect">
            <a:avLst>
              <a:gd name="adj" fmla="val 26849"/>
            </a:avLst>
          </a:prstGeom>
          <a:solidFill>
            <a:srgbClr val="46464A"/>
          </a:solidFill>
          <a:ln/>
        </p:spPr>
      </p:sp>
      <p:sp>
        <p:nvSpPr>
          <p:cNvPr id="11" name="Text 8"/>
          <p:cNvSpPr/>
          <p:nvPr/>
        </p:nvSpPr>
        <p:spPr>
          <a:xfrm>
            <a:off x="916781" y="5852041"/>
            <a:ext cx="2263854" cy="282893"/>
          </a:xfrm>
          <a:prstGeom prst="rect">
            <a:avLst/>
          </a:prstGeom>
          <a:noFill/>
          <a:ln/>
        </p:spPr>
        <p:txBody>
          <a:bodyPr wrap="none" lIns="0" tIns="0" rIns="0" bIns="0" rtlCol="0" anchor="t"/>
          <a:lstStyle/>
          <a:p>
            <a:pPr marL="0" indent="0" algn="l">
              <a:lnSpc>
                <a:spcPts val="2200"/>
              </a:lnSpc>
              <a:buNone/>
            </a:pPr>
            <a:r>
              <a:rPr lang="en-US" sz="1750" b="1" dirty="0">
                <a:solidFill>
                  <a:srgbClr val="D7D4CC"/>
                </a:solidFill>
                <a:latin typeface="Comfortaa Bold" pitchFamily="34" charset="0"/>
                <a:ea typeface="Comfortaa Bold" pitchFamily="34" charset="-122"/>
                <a:cs typeface="Comfortaa Bold" pitchFamily="34" charset="-120"/>
              </a:rPr>
              <a:t>Shared</a:t>
            </a:r>
            <a:endParaRPr lang="en-US" sz="1750" dirty="0"/>
          </a:p>
        </p:txBody>
      </p:sp>
      <p:sp>
        <p:nvSpPr>
          <p:cNvPr id="12" name="Text 9"/>
          <p:cNvSpPr/>
          <p:nvPr/>
        </p:nvSpPr>
        <p:spPr>
          <a:xfrm>
            <a:off x="916781" y="6257092"/>
            <a:ext cx="6092904" cy="325874"/>
          </a:xfrm>
          <a:prstGeom prst="rect">
            <a:avLst/>
          </a:prstGeom>
          <a:noFill/>
          <a:ln/>
        </p:spPr>
        <p:txBody>
          <a:bodyPr wrap="none" lIns="0" tIns="0" rIns="0" bIns="0" rtlCol="0" anchor="t"/>
          <a:lstStyle/>
          <a:p>
            <a:pPr marL="0" indent="0" algn="l">
              <a:lnSpc>
                <a:spcPts val="2550"/>
              </a:lnSpc>
              <a:buNone/>
            </a:pPr>
            <a:r>
              <a:rPr lang="en-US" sz="1600" dirty="0">
                <a:solidFill>
                  <a:srgbClr val="D7D4CC"/>
                </a:solidFill>
                <a:latin typeface="Raleway Medium" pitchFamily="34" charset="0"/>
                <a:ea typeface="Raleway Medium" pitchFamily="34" charset="-122"/>
                <a:cs typeface="Raleway Medium" pitchFamily="34" charset="-120"/>
              </a:rPr>
              <a:t>Contains reusable components.</a:t>
            </a:r>
            <a:endParaRPr lang="en-US" sz="1600" dirty="0"/>
          </a:p>
        </p:txBody>
      </p:sp>
      <p:sp>
        <p:nvSpPr>
          <p:cNvPr id="13" name="Shape 10"/>
          <p:cNvSpPr/>
          <p:nvPr/>
        </p:nvSpPr>
        <p:spPr>
          <a:xfrm>
            <a:off x="7417118" y="5648325"/>
            <a:ext cx="6500336" cy="1138357"/>
          </a:xfrm>
          <a:prstGeom prst="roundRect">
            <a:avLst>
              <a:gd name="adj" fmla="val 26849"/>
            </a:avLst>
          </a:prstGeom>
          <a:solidFill>
            <a:srgbClr val="46464A"/>
          </a:solidFill>
          <a:ln/>
        </p:spPr>
      </p:sp>
      <p:sp>
        <p:nvSpPr>
          <p:cNvPr id="14" name="Text 11"/>
          <p:cNvSpPr/>
          <p:nvPr/>
        </p:nvSpPr>
        <p:spPr>
          <a:xfrm>
            <a:off x="7620833" y="5852041"/>
            <a:ext cx="2263854" cy="282893"/>
          </a:xfrm>
          <a:prstGeom prst="rect">
            <a:avLst/>
          </a:prstGeom>
          <a:noFill/>
          <a:ln/>
        </p:spPr>
        <p:txBody>
          <a:bodyPr wrap="none" lIns="0" tIns="0" rIns="0" bIns="0" rtlCol="0" anchor="t"/>
          <a:lstStyle/>
          <a:p>
            <a:pPr marL="0" indent="0" algn="l">
              <a:lnSpc>
                <a:spcPts val="2200"/>
              </a:lnSpc>
              <a:buNone/>
            </a:pPr>
            <a:r>
              <a:rPr lang="en-US" sz="1750" b="1" dirty="0">
                <a:solidFill>
                  <a:srgbClr val="D7D4CC"/>
                </a:solidFill>
                <a:latin typeface="Comfortaa Bold" pitchFamily="34" charset="0"/>
                <a:ea typeface="Comfortaa Bold" pitchFamily="34" charset="-122"/>
                <a:cs typeface="Comfortaa Bold" pitchFamily="34" charset="-120"/>
              </a:rPr>
              <a:t>Assets</a:t>
            </a:r>
            <a:endParaRPr lang="en-US" sz="1750" dirty="0"/>
          </a:p>
        </p:txBody>
      </p:sp>
      <p:sp>
        <p:nvSpPr>
          <p:cNvPr id="15" name="Text 12"/>
          <p:cNvSpPr/>
          <p:nvPr/>
        </p:nvSpPr>
        <p:spPr>
          <a:xfrm>
            <a:off x="7620833" y="6257092"/>
            <a:ext cx="6092904" cy="325874"/>
          </a:xfrm>
          <a:prstGeom prst="rect">
            <a:avLst/>
          </a:prstGeom>
          <a:noFill/>
          <a:ln/>
        </p:spPr>
        <p:txBody>
          <a:bodyPr wrap="none" lIns="0" tIns="0" rIns="0" bIns="0" rtlCol="0" anchor="t"/>
          <a:lstStyle/>
          <a:p>
            <a:pPr marL="0" indent="0" algn="l">
              <a:lnSpc>
                <a:spcPts val="2550"/>
              </a:lnSpc>
              <a:buNone/>
            </a:pPr>
            <a:r>
              <a:rPr lang="en-US" sz="1600" dirty="0">
                <a:solidFill>
                  <a:srgbClr val="D7D4CC"/>
                </a:solidFill>
                <a:latin typeface="Raleway Medium" pitchFamily="34" charset="0"/>
                <a:ea typeface="Raleway Medium" pitchFamily="34" charset="-122"/>
                <a:cs typeface="Raleway Medium" pitchFamily="34" charset="-120"/>
              </a:rPr>
              <a:t>Stores images, styles, and static files.</a:t>
            </a:r>
            <a:endParaRPr lang="en-US" sz="1600" dirty="0"/>
          </a:p>
        </p:txBody>
      </p:sp>
      <p:sp>
        <p:nvSpPr>
          <p:cNvPr id="16" name="Text 13"/>
          <p:cNvSpPr/>
          <p:nvPr/>
        </p:nvSpPr>
        <p:spPr>
          <a:xfrm>
            <a:off x="713065" y="7015877"/>
            <a:ext cx="13204269" cy="651748"/>
          </a:xfrm>
          <a:prstGeom prst="rect">
            <a:avLst/>
          </a:prstGeom>
          <a:noFill/>
          <a:ln/>
        </p:spPr>
        <p:txBody>
          <a:bodyPr wrap="square" lIns="0" tIns="0" rIns="0" bIns="0" rtlCol="0" anchor="t"/>
          <a:lstStyle/>
          <a:p>
            <a:pPr marL="0" indent="0" algn="l">
              <a:lnSpc>
                <a:spcPts val="2550"/>
              </a:lnSpc>
              <a:buNone/>
            </a:pPr>
            <a:r>
              <a:rPr lang="en-US" sz="1600" dirty="0">
                <a:solidFill>
                  <a:srgbClr val="D7D4CC"/>
                </a:solidFill>
                <a:latin typeface="Raleway Medium" pitchFamily="34" charset="0"/>
                <a:ea typeface="Raleway Medium" pitchFamily="34" charset="-122"/>
                <a:cs typeface="Raleway Medium" pitchFamily="34" charset="-120"/>
              </a:rPr>
              <a:t>The folder structure is organized into core, features, shared, and assets. Core contains global services, features contain feature modules, shared contains reusable components, and assets store static files.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8279964" y="0"/>
            <a:ext cx="6350436" cy="8229600"/>
          </a:xfrm>
          <a:prstGeom prst="rect">
            <a:avLst/>
          </a:prstGeom>
        </p:spPr>
      </p:pic>
      <p:sp>
        <p:nvSpPr>
          <p:cNvPr id="3" name="Text 0"/>
          <p:cNvSpPr/>
          <p:nvPr/>
        </p:nvSpPr>
        <p:spPr>
          <a:xfrm>
            <a:off x="864037" y="2651284"/>
            <a:ext cx="7415927" cy="1371600"/>
          </a:xfrm>
          <a:prstGeom prst="rect">
            <a:avLst/>
          </a:prstGeom>
          <a:noFill/>
          <a:ln/>
        </p:spPr>
        <p:txBody>
          <a:bodyPr wrap="squar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Application Navigation Flow</a:t>
            </a:r>
            <a:endParaRPr lang="en-US" sz="4300" dirty="0"/>
          </a:p>
        </p:txBody>
      </p:sp>
      <p:sp>
        <p:nvSpPr>
          <p:cNvPr id="4" name="Text 1"/>
          <p:cNvSpPr/>
          <p:nvPr/>
        </p:nvSpPr>
        <p:spPr>
          <a:xfrm>
            <a:off x="864037" y="4393168"/>
            <a:ext cx="7415927" cy="1185148"/>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The flowchart illustrates the user journey, starting from the Welcome Page and navigating through authentication, product management, and logout functionalities.</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12125" y="824865"/>
            <a:ext cx="7519749" cy="1288971"/>
          </a:xfrm>
          <a:prstGeom prst="rect">
            <a:avLst/>
          </a:prstGeom>
          <a:noFill/>
          <a:ln/>
        </p:spPr>
        <p:txBody>
          <a:bodyPr wrap="square" lIns="0" tIns="0" rIns="0" bIns="0" rtlCol="0" anchor="t"/>
          <a:lstStyle/>
          <a:p>
            <a:pPr marL="0" indent="0" algn="l">
              <a:lnSpc>
                <a:spcPts val="5050"/>
              </a:lnSpc>
              <a:buNone/>
            </a:pPr>
            <a:r>
              <a:rPr lang="en-US" sz="4050" b="1" dirty="0">
                <a:solidFill>
                  <a:srgbClr val="FFE14D"/>
                </a:solidFill>
                <a:latin typeface="Comfortaa Bold" pitchFamily="34" charset="0"/>
                <a:ea typeface="Comfortaa Bold" pitchFamily="34" charset="-122"/>
                <a:cs typeface="Comfortaa Bold" pitchFamily="34" charset="-120"/>
              </a:rPr>
              <a:t>Application Design: Modules &amp; Components</a:t>
            </a:r>
            <a:endParaRPr lang="en-US" sz="4050" dirty="0"/>
          </a:p>
        </p:txBody>
      </p:sp>
      <p:sp>
        <p:nvSpPr>
          <p:cNvPr id="4" name="Shape 1"/>
          <p:cNvSpPr/>
          <p:nvPr/>
        </p:nvSpPr>
        <p:spPr>
          <a:xfrm>
            <a:off x="1073110" y="2461855"/>
            <a:ext cx="30480" cy="3196947"/>
          </a:xfrm>
          <a:prstGeom prst="roundRect">
            <a:avLst>
              <a:gd name="adj" fmla="val 1142037"/>
            </a:avLst>
          </a:prstGeom>
          <a:solidFill>
            <a:srgbClr val="5F5F63"/>
          </a:solidFill>
          <a:ln/>
        </p:spPr>
      </p:sp>
      <p:sp>
        <p:nvSpPr>
          <p:cNvPr id="5" name="Shape 2"/>
          <p:cNvSpPr/>
          <p:nvPr/>
        </p:nvSpPr>
        <p:spPr>
          <a:xfrm>
            <a:off x="1303675" y="2968585"/>
            <a:ext cx="696158" cy="30480"/>
          </a:xfrm>
          <a:prstGeom prst="roundRect">
            <a:avLst>
              <a:gd name="adj" fmla="val 1142037"/>
            </a:avLst>
          </a:prstGeom>
          <a:solidFill>
            <a:srgbClr val="5F5F63"/>
          </a:solidFill>
          <a:ln/>
        </p:spPr>
      </p:sp>
      <p:sp>
        <p:nvSpPr>
          <p:cNvPr id="6" name="Shape 3"/>
          <p:cNvSpPr/>
          <p:nvPr/>
        </p:nvSpPr>
        <p:spPr>
          <a:xfrm>
            <a:off x="812066" y="2722840"/>
            <a:ext cx="522089" cy="522089"/>
          </a:xfrm>
          <a:prstGeom prst="roundRect">
            <a:avLst>
              <a:gd name="adj" fmla="val 66673"/>
            </a:avLst>
          </a:prstGeom>
          <a:solidFill>
            <a:srgbClr val="46464A"/>
          </a:solidFill>
          <a:ln/>
        </p:spPr>
      </p:sp>
      <p:sp>
        <p:nvSpPr>
          <p:cNvPr id="7" name="Text 4"/>
          <p:cNvSpPr/>
          <p:nvPr/>
        </p:nvSpPr>
        <p:spPr>
          <a:xfrm>
            <a:off x="918389" y="2790468"/>
            <a:ext cx="309324" cy="386715"/>
          </a:xfrm>
          <a:prstGeom prst="rect">
            <a:avLst/>
          </a:prstGeom>
          <a:noFill/>
          <a:ln/>
        </p:spPr>
        <p:txBody>
          <a:bodyPr wrap="none" lIns="0" tIns="0" rIns="0" bIns="0" rtlCol="0" anchor="t"/>
          <a:lstStyle/>
          <a:p>
            <a:pPr marL="0" indent="0" algn="ctr">
              <a:lnSpc>
                <a:spcPts val="2400"/>
              </a:lnSpc>
              <a:buNone/>
            </a:pPr>
            <a:r>
              <a:rPr lang="en-US" sz="2400" b="1" dirty="0">
                <a:solidFill>
                  <a:srgbClr val="D7D4CC"/>
                </a:solidFill>
                <a:latin typeface="Comfortaa Bold" pitchFamily="34" charset="0"/>
                <a:ea typeface="Comfortaa Bold" pitchFamily="34" charset="-122"/>
                <a:cs typeface="Comfortaa Bold" pitchFamily="34" charset="-120"/>
              </a:rPr>
              <a:t>1</a:t>
            </a:r>
            <a:endParaRPr lang="en-US" sz="2400" dirty="0"/>
          </a:p>
        </p:txBody>
      </p:sp>
      <p:sp>
        <p:nvSpPr>
          <p:cNvPr id="8" name="Text 5"/>
          <p:cNvSpPr/>
          <p:nvPr/>
        </p:nvSpPr>
        <p:spPr>
          <a:xfrm>
            <a:off x="2233493" y="2693908"/>
            <a:ext cx="2578418" cy="322302"/>
          </a:xfrm>
          <a:prstGeom prst="rect">
            <a:avLst/>
          </a:prstGeom>
          <a:noFill/>
          <a:ln/>
        </p:spPr>
        <p:txBody>
          <a:bodyPr wrap="none" lIns="0" tIns="0" rIns="0" bIns="0" rtlCol="0" anchor="t"/>
          <a:lstStyle/>
          <a:p>
            <a:pPr marL="0" indent="0" algn="l">
              <a:lnSpc>
                <a:spcPts val="2500"/>
              </a:lnSpc>
              <a:buNone/>
            </a:pPr>
            <a:r>
              <a:rPr lang="en-US" sz="2000" b="1" dirty="0">
                <a:solidFill>
                  <a:srgbClr val="D7D4CC"/>
                </a:solidFill>
                <a:latin typeface="Comfortaa Bold" pitchFamily="34" charset="0"/>
                <a:ea typeface="Comfortaa Bold" pitchFamily="34" charset="-122"/>
                <a:cs typeface="Comfortaa Bold" pitchFamily="34" charset="-120"/>
              </a:rPr>
              <a:t>Inventory Module</a:t>
            </a:r>
            <a:endParaRPr lang="en-US" sz="2000" dirty="0"/>
          </a:p>
        </p:txBody>
      </p:sp>
      <p:sp>
        <p:nvSpPr>
          <p:cNvPr id="9" name="Text 6"/>
          <p:cNvSpPr/>
          <p:nvPr/>
        </p:nvSpPr>
        <p:spPr>
          <a:xfrm>
            <a:off x="2233493" y="3155394"/>
            <a:ext cx="6098381" cy="742474"/>
          </a:xfrm>
          <a:prstGeom prst="rect">
            <a:avLst/>
          </a:prstGeom>
          <a:noFill/>
          <a:ln/>
        </p:spPr>
        <p:txBody>
          <a:bodyPr wrap="square" lIns="0" tIns="0" rIns="0" bIns="0" rtlCol="0" anchor="t"/>
          <a:lstStyle/>
          <a:p>
            <a:pPr marL="0" indent="0" algn="l">
              <a:lnSpc>
                <a:spcPts val="2900"/>
              </a:lnSpc>
              <a:buNone/>
            </a:pPr>
            <a:r>
              <a:rPr lang="en-US" sz="1800" dirty="0">
                <a:solidFill>
                  <a:srgbClr val="D7D4CC"/>
                </a:solidFill>
                <a:latin typeface="Raleway Medium" pitchFamily="34" charset="0"/>
                <a:ea typeface="Raleway Medium" pitchFamily="34" charset="-122"/>
                <a:cs typeface="Raleway Medium" pitchFamily="34" charset="-120"/>
              </a:rPr>
              <a:t>Product List, Product Detail, Add Product, Update Product.</a:t>
            </a:r>
            <a:endParaRPr lang="en-US" sz="1800" dirty="0"/>
          </a:p>
        </p:txBody>
      </p:sp>
      <p:sp>
        <p:nvSpPr>
          <p:cNvPr id="10" name="Shape 7"/>
          <p:cNvSpPr/>
          <p:nvPr/>
        </p:nvSpPr>
        <p:spPr>
          <a:xfrm>
            <a:off x="1303675" y="4868704"/>
            <a:ext cx="696158" cy="30480"/>
          </a:xfrm>
          <a:prstGeom prst="roundRect">
            <a:avLst>
              <a:gd name="adj" fmla="val 1142037"/>
            </a:avLst>
          </a:prstGeom>
          <a:solidFill>
            <a:srgbClr val="5F5F63"/>
          </a:solidFill>
          <a:ln/>
        </p:spPr>
      </p:sp>
      <p:sp>
        <p:nvSpPr>
          <p:cNvPr id="11" name="Shape 8"/>
          <p:cNvSpPr/>
          <p:nvPr/>
        </p:nvSpPr>
        <p:spPr>
          <a:xfrm>
            <a:off x="812066" y="4622959"/>
            <a:ext cx="522089" cy="522089"/>
          </a:xfrm>
          <a:prstGeom prst="roundRect">
            <a:avLst>
              <a:gd name="adj" fmla="val 66673"/>
            </a:avLst>
          </a:prstGeom>
          <a:solidFill>
            <a:srgbClr val="46464A"/>
          </a:solidFill>
          <a:ln/>
        </p:spPr>
      </p:sp>
      <p:sp>
        <p:nvSpPr>
          <p:cNvPr id="12" name="Text 9"/>
          <p:cNvSpPr/>
          <p:nvPr/>
        </p:nvSpPr>
        <p:spPr>
          <a:xfrm>
            <a:off x="918389" y="4690586"/>
            <a:ext cx="309324" cy="386715"/>
          </a:xfrm>
          <a:prstGeom prst="rect">
            <a:avLst/>
          </a:prstGeom>
          <a:noFill/>
          <a:ln/>
        </p:spPr>
        <p:txBody>
          <a:bodyPr wrap="none" lIns="0" tIns="0" rIns="0" bIns="0" rtlCol="0" anchor="t"/>
          <a:lstStyle/>
          <a:p>
            <a:pPr marL="0" indent="0" algn="ctr">
              <a:lnSpc>
                <a:spcPts val="2400"/>
              </a:lnSpc>
              <a:buNone/>
            </a:pPr>
            <a:r>
              <a:rPr lang="en-US" sz="2400" b="1" dirty="0">
                <a:solidFill>
                  <a:srgbClr val="D7D4CC"/>
                </a:solidFill>
                <a:latin typeface="Comfortaa Bold" pitchFamily="34" charset="0"/>
                <a:ea typeface="Comfortaa Bold" pitchFamily="34" charset="-122"/>
                <a:cs typeface="Comfortaa Bold" pitchFamily="34" charset="-120"/>
              </a:rPr>
              <a:t>2</a:t>
            </a:r>
            <a:endParaRPr lang="en-US" sz="2400" dirty="0"/>
          </a:p>
        </p:txBody>
      </p:sp>
      <p:sp>
        <p:nvSpPr>
          <p:cNvPr id="13" name="Text 10"/>
          <p:cNvSpPr/>
          <p:nvPr/>
        </p:nvSpPr>
        <p:spPr>
          <a:xfrm>
            <a:off x="2233493" y="4594027"/>
            <a:ext cx="3102888" cy="322302"/>
          </a:xfrm>
          <a:prstGeom prst="rect">
            <a:avLst/>
          </a:prstGeom>
          <a:noFill/>
          <a:ln/>
        </p:spPr>
        <p:txBody>
          <a:bodyPr wrap="none" lIns="0" tIns="0" rIns="0" bIns="0" rtlCol="0" anchor="t"/>
          <a:lstStyle/>
          <a:p>
            <a:pPr marL="0" indent="0" algn="l">
              <a:lnSpc>
                <a:spcPts val="2500"/>
              </a:lnSpc>
              <a:buNone/>
            </a:pPr>
            <a:r>
              <a:rPr lang="en-US" sz="2000" b="1" dirty="0">
                <a:solidFill>
                  <a:srgbClr val="D7D4CC"/>
                </a:solidFill>
                <a:latin typeface="Comfortaa Bold" pitchFamily="34" charset="0"/>
                <a:ea typeface="Comfortaa Bold" pitchFamily="34" charset="-122"/>
                <a:cs typeface="Comfortaa Bold" pitchFamily="34" charset="-120"/>
              </a:rPr>
              <a:t>Authentication Module</a:t>
            </a:r>
            <a:endParaRPr lang="en-US" sz="2000" dirty="0"/>
          </a:p>
        </p:txBody>
      </p:sp>
      <p:sp>
        <p:nvSpPr>
          <p:cNvPr id="14" name="Text 11"/>
          <p:cNvSpPr/>
          <p:nvPr/>
        </p:nvSpPr>
        <p:spPr>
          <a:xfrm>
            <a:off x="2233493" y="5055513"/>
            <a:ext cx="6098381" cy="371237"/>
          </a:xfrm>
          <a:prstGeom prst="rect">
            <a:avLst/>
          </a:prstGeom>
          <a:noFill/>
          <a:ln/>
        </p:spPr>
        <p:txBody>
          <a:bodyPr wrap="none" lIns="0" tIns="0" rIns="0" bIns="0" rtlCol="0" anchor="t"/>
          <a:lstStyle/>
          <a:p>
            <a:pPr marL="0" indent="0" algn="l">
              <a:lnSpc>
                <a:spcPts val="2900"/>
              </a:lnSpc>
              <a:buNone/>
            </a:pPr>
            <a:r>
              <a:rPr lang="en-US" sz="1800" dirty="0">
                <a:solidFill>
                  <a:srgbClr val="D7D4CC"/>
                </a:solidFill>
                <a:latin typeface="Raleway Medium" pitchFamily="34" charset="0"/>
                <a:ea typeface="Raleway Medium" pitchFamily="34" charset="-122"/>
                <a:cs typeface="Raleway Medium" pitchFamily="34" charset="-120"/>
              </a:rPr>
              <a:t>Handles login/logout operations and access control.</a:t>
            </a:r>
            <a:endParaRPr lang="en-US" sz="1800" dirty="0"/>
          </a:p>
        </p:txBody>
      </p:sp>
      <p:sp>
        <p:nvSpPr>
          <p:cNvPr id="15" name="Text 12"/>
          <p:cNvSpPr/>
          <p:nvPr/>
        </p:nvSpPr>
        <p:spPr>
          <a:xfrm>
            <a:off x="812125" y="5919788"/>
            <a:ext cx="7519749" cy="1484948"/>
          </a:xfrm>
          <a:prstGeom prst="rect">
            <a:avLst/>
          </a:prstGeom>
          <a:noFill/>
          <a:ln/>
        </p:spPr>
        <p:txBody>
          <a:bodyPr wrap="square" lIns="0" tIns="0" rIns="0" bIns="0" rtlCol="0" anchor="t"/>
          <a:lstStyle/>
          <a:p>
            <a:pPr marL="0" indent="0" algn="l">
              <a:lnSpc>
                <a:spcPts val="2900"/>
              </a:lnSpc>
              <a:buNone/>
            </a:pPr>
            <a:r>
              <a:rPr lang="en-US" sz="1800" dirty="0">
                <a:solidFill>
                  <a:srgbClr val="D7D4CC"/>
                </a:solidFill>
                <a:latin typeface="Raleway Medium" pitchFamily="34" charset="0"/>
                <a:ea typeface="Raleway Medium" pitchFamily="34" charset="-122"/>
                <a:cs typeface="Raleway Medium" pitchFamily="34" charset="-120"/>
              </a:rPr>
              <a:t>The system follows a modular approach with Lazy Loading for better performance. The Inventory Module manages product-related functionalities, while the Authentication Module handles user authentication and access control.</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20422"/>
          </a:xfrm>
          <a:prstGeom prst="rect">
            <a:avLst/>
          </a:prstGeom>
        </p:spPr>
      </p:pic>
      <p:sp>
        <p:nvSpPr>
          <p:cNvPr id="3" name="Text 0"/>
          <p:cNvSpPr/>
          <p:nvPr/>
        </p:nvSpPr>
        <p:spPr>
          <a:xfrm>
            <a:off x="677704" y="3108484"/>
            <a:ext cx="4465201" cy="537805"/>
          </a:xfrm>
          <a:prstGeom prst="rect">
            <a:avLst/>
          </a:prstGeom>
          <a:noFill/>
          <a:ln/>
        </p:spPr>
        <p:txBody>
          <a:bodyPr wrap="none" lIns="0" tIns="0" rIns="0" bIns="0" rtlCol="0" anchor="t"/>
          <a:lstStyle/>
          <a:p>
            <a:pPr marL="0" indent="0" algn="l">
              <a:lnSpc>
                <a:spcPts val="4200"/>
              </a:lnSpc>
              <a:buNone/>
            </a:pPr>
            <a:r>
              <a:rPr lang="en-US" sz="3350" b="1" dirty="0">
                <a:solidFill>
                  <a:srgbClr val="FFE14D"/>
                </a:solidFill>
                <a:latin typeface="Comfortaa Bold" pitchFamily="34" charset="0"/>
                <a:ea typeface="Comfortaa Bold" pitchFamily="34" charset="-122"/>
                <a:cs typeface="Comfortaa Bold" pitchFamily="34" charset="-120"/>
              </a:rPr>
              <a:t>Database Structure</a:t>
            </a:r>
            <a:endParaRPr lang="en-US" sz="3350" dirty="0"/>
          </a:p>
        </p:txBody>
      </p:sp>
      <p:sp>
        <p:nvSpPr>
          <p:cNvPr id="4" name="Text 1"/>
          <p:cNvSpPr/>
          <p:nvPr/>
        </p:nvSpPr>
        <p:spPr>
          <a:xfrm>
            <a:off x="677704" y="3936683"/>
            <a:ext cx="13274993" cy="309682"/>
          </a:xfrm>
          <a:prstGeom prst="rect">
            <a:avLst/>
          </a:prstGeom>
          <a:noFill/>
          <a:ln/>
        </p:spPr>
        <p:txBody>
          <a:bodyPr wrap="none" lIns="0" tIns="0" rIns="0" bIns="0" rtlCol="0" anchor="t"/>
          <a:lstStyle/>
          <a:p>
            <a:pPr marL="0" indent="0" algn="l">
              <a:lnSpc>
                <a:spcPts val="2400"/>
              </a:lnSpc>
              <a:buNone/>
            </a:pPr>
            <a:r>
              <a:rPr lang="en-US" sz="1500" dirty="0">
                <a:solidFill>
                  <a:srgbClr val="D7D4CC"/>
                </a:solidFill>
                <a:latin typeface="Raleway Medium" pitchFamily="34" charset="0"/>
                <a:ea typeface="Raleway Medium" pitchFamily="34" charset="-122"/>
                <a:cs typeface="Raleway Medium" pitchFamily="34" charset="-120"/>
              </a:rPr>
              <a:t>The application uses JSON Server to mock a database. Products contain an 'id', 'name', 'price', and 'category'. The API supports CRUD operations.</a:t>
            </a:r>
            <a:endParaRPr lang="en-US" sz="1500" dirty="0"/>
          </a:p>
        </p:txBody>
      </p:sp>
      <p:sp>
        <p:nvSpPr>
          <p:cNvPr id="5" name="Shape 2"/>
          <p:cNvSpPr/>
          <p:nvPr/>
        </p:nvSpPr>
        <p:spPr>
          <a:xfrm>
            <a:off x="677704" y="4464129"/>
            <a:ext cx="13274993" cy="3077408"/>
          </a:xfrm>
          <a:prstGeom prst="roundRect">
            <a:avLst>
              <a:gd name="adj" fmla="val 9438"/>
            </a:avLst>
          </a:prstGeom>
          <a:solidFill>
            <a:srgbClr val="4D4000"/>
          </a:solidFill>
          <a:ln/>
        </p:spPr>
      </p:sp>
      <p:sp>
        <p:nvSpPr>
          <p:cNvPr id="6" name="Shape 3"/>
          <p:cNvSpPr/>
          <p:nvPr/>
        </p:nvSpPr>
        <p:spPr>
          <a:xfrm>
            <a:off x="668060" y="4464129"/>
            <a:ext cx="13294281" cy="3077408"/>
          </a:xfrm>
          <a:prstGeom prst="roundRect">
            <a:avLst>
              <a:gd name="adj" fmla="val 944"/>
            </a:avLst>
          </a:prstGeom>
          <a:solidFill>
            <a:srgbClr val="4D4000"/>
          </a:solidFill>
          <a:ln/>
        </p:spPr>
      </p:sp>
      <p:sp>
        <p:nvSpPr>
          <p:cNvPr id="7" name="Text 4"/>
          <p:cNvSpPr/>
          <p:nvPr/>
        </p:nvSpPr>
        <p:spPr>
          <a:xfrm>
            <a:off x="861655" y="4609267"/>
            <a:ext cx="12907089" cy="2787134"/>
          </a:xfrm>
          <a:prstGeom prst="rect">
            <a:avLst/>
          </a:prstGeom>
          <a:noFill/>
          <a:ln/>
        </p:spPr>
        <p:txBody>
          <a:bodyPr wrap="square" lIns="0" tIns="0" rIns="0" bIns="0" rtlCol="0" anchor="t"/>
          <a:lstStyle/>
          <a:p>
            <a:pPr marL="0" indent="0" algn="l">
              <a:lnSpc>
                <a:spcPts val="2400"/>
              </a:lnSpc>
              <a:buNone/>
            </a:pPr>
            <a:r>
              <a:rPr lang="en-US" sz="1500" dirty="0">
                <a:solidFill>
                  <a:srgbClr val="D7D4CC"/>
                </a:solidFill>
                <a:highlight>
                  <a:srgbClr val="4D4000"/>
                </a:highlight>
                <a:latin typeface="Consolas Medium" pitchFamily="34" charset="0"/>
                <a:ea typeface="Consolas Medium" pitchFamily="34" charset="-122"/>
                <a:cs typeface="Consolas Medium" pitchFamily="34" charset="-120"/>
              </a:rPr>
              <a:t>{
  " users ": [
     { " id ": 1 , " name ": " John Doe ", " role ": " admin " }
  ],
  " products ": [
     { " id ": 1 , " name ": " Laptop ", " price ": 1000 , " category ": " Electronics " }
  ]
}
</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1090017"/>
            <a:ext cx="5486400" cy="685800"/>
          </a:xfrm>
          <a:prstGeom prst="rect">
            <a:avLst/>
          </a:prstGeom>
          <a:noFill/>
          <a:ln/>
        </p:spPr>
        <p:txBody>
          <a:bodyPr wrap="non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Testing Strategy</a:t>
            </a:r>
            <a:endParaRPr lang="en-US" sz="4300" dirty="0"/>
          </a:p>
        </p:txBody>
      </p:sp>
      <p:sp>
        <p:nvSpPr>
          <p:cNvPr id="4" name="Text 1"/>
          <p:cNvSpPr/>
          <p:nvPr/>
        </p:nvSpPr>
        <p:spPr>
          <a:xfrm>
            <a:off x="864037" y="2146102"/>
            <a:ext cx="7415927" cy="790099"/>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The project uses Jest for unit testing. Tests verify functionality and API interactions.</a:t>
            </a:r>
            <a:endParaRPr lang="en-US" sz="1900" dirty="0"/>
          </a:p>
        </p:txBody>
      </p:sp>
      <p:sp>
        <p:nvSpPr>
          <p:cNvPr id="5" name="Shape 2"/>
          <p:cNvSpPr/>
          <p:nvPr/>
        </p:nvSpPr>
        <p:spPr>
          <a:xfrm>
            <a:off x="864037" y="3213854"/>
            <a:ext cx="7415927" cy="3925729"/>
          </a:xfrm>
          <a:prstGeom prst="roundRect">
            <a:avLst>
              <a:gd name="adj" fmla="val 9433"/>
            </a:avLst>
          </a:prstGeom>
          <a:solidFill>
            <a:srgbClr val="4D4000"/>
          </a:solidFill>
          <a:ln/>
        </p:spPr>
      </p:sp>
      <p:sp>
        <p:nvSpPr>
          <p:cNvPr id="6" name="Shape 3"/>
          <p:cNvSpPr/>
          <p:nvPr/>
        </p:nvSpPr>
        <p:spPr>
          <a:xfrm>
            <a:off x="851773" y="3213854"/>
            <a:ext cx="7440454" cy="3925729"/>
          </a:xfrm>
          <a:prstGeom prst="roundRect">
            <a:avLst>
              <a:gd name="adj" fmla="val 943"/>
            </a:avLst>
          </a:prstGeom>
          <a:solidFill>
            <a:srgbClr val="4D4000"/>
          </a:solidFill>
          <a:ln/>
        </p:spPr>
      </p:sp>
      <p:sp>
        <p:nvSpPr>
          <p:cNvPr id="7" name="Text 4"/>
          <p:cNvSpPr/>
          <p:nvPr/>
        </p:nvSpPr>
        <p:spPr>
          <a:xfrm>
            <a:off x="1098590" y="3398996"/>
            <a:ext cx="6946821" cy="3555444"/>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highlight>
                  <a:srgbClr val="4D4000"/>
                </a:highlight>
                <a:latin typeface="Consolas Medium" pitchFamily="34" charset="0"/>
                <a:ea typeface="Consolas Medium" pitchFamily="34" charset="-122"/>
                <a:cs typeface="Consolas Medium" pitchFamily="34" charset="-120"/>
              </a:rPr>
              <a:t>describe ( ' DataService ', () =&gt; {
  it (' should fetch products ' , () =&gt; {
    const service = new DataService () ;
    service . getProducts () . subscribe ( products =&gt; {
       expect ( products . length ). toBeGreaterThan (0) ;
    }) ;
  }) ;
}) ;
</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79727"/>
          </a:xfrm>
          <a:prstGeom prst="rect">
            <a:avLst/>
          </a:prstGeom>
        </p:spPr>
      </p:pic>
      <p:sp>
        <p:nvSpPr>
          <p:cNvPr id="3" name="Text 0"/>
          <p:cNvSpPr/>
          <p:nvPr/>
        </p:nvSpPr>
        <p:spPr>
          <a:xfrm>
            <a:off x="722233" y="3147179"/>
            <a:ext cx="4586168" cy="573286"/>
          </a:xfrm>
          <a:prstGeom prst="rect">
            <a:avLst/>
          </a:prstGeom>
          <a:noFill/>
          <a:ln/>
        </p:spPr>
        <p:txBody>
          <a:bodyPr wrap="none" lIns="0" tIns="0" rIns="0" bIns="0" rtlCol="0" anchor="t"/>
          <a:lstStyle/>
          <a:p>
            <a:pPr marL="0" indent="0" algn="l">
              <a:lnSpc>
                <a:spcPts val="4500"/>
              </a:lnSpc>
              <a:buNone/>
            </a:pPr>
            <a:r>
              <a:rPr lang="en-US" sz="3600" b="1" dirty="0">
                <a:solidFill>
                  <a:srgbClr val="FFE14D"/>
                </a:solidFill>
                <a:latin typeface="Comfortaa Bold" pitchFamily="34" charset="0"/>
                <a:ea typeface="Comfortaa Bold" pitchFamily="34" charset="-122"/>
                <a:cs typeface="Comfortaa Bold" pitchFamily="34" charset="-120"/>
              </a:rPr>
              <a:t>Issues &amp; Risks</a:t>
            </a:r>
            <a:endParaRPr lang="en-US" sz="3600" dirty="0"/>
          </a:p>
        </p:txBody>
      </p:sp>
      <p:pic>
        <p:nvPicPr>
          <p:cNvPr id="4" name="Image 1" descr="preencoded.png"/>
          <p:cNvPicPr>
            <a:picLocks noChangeAspect="1"/>
          </p:cNvPicPr>
          <p:nvPr/>
        </p:nvPicPr>
        <p:blipFill>
          <a:blip r:embed="rId4"/>
          <a:stretch>
            <a:fillRect/>
          </a:stretch>
        </p:blipFill>
        <p:spPr>
          <a:xfrm>
            <a:off x="722233" y="4030027"/>
            <a:ext cx="4395311" cy="825460"/>
          </a:xfrm>
          <a:prstGeom prst="rect">
            <a:avLst/>
          </a:prstGeom>
        </p:spPr>
      </p:pic>
      <p:sp>
        <p:nvSpPr>
          <p:cNvPr id="5" name="Text 1"/>
          <p:cNvSpPr/>
          <p:nvPr/>
        </p:nvSpPr>
        <p:spPr>
          <a:xfrm>
            <a:off x="928568" y="5165050"/>
            <a:ext cx="2293025" cy="286583"/>
          </a:xfrm>
          <a:prstGeom prst="rect">
            <a:avLst/>
          </a:prstGeom>
          <a:noFill/>
          <a:ln/>
        </p:spPr>
        <p:txBody>
          <a:bodyPr wrap="none" lIns="0" tIns="0" rIns="0" bIns="0" rtlCol="0" anchor="t"/>
          <a:lstStyle/>
          <a:p>
            <a:pPr marL="0" indent="0" algn="l">
              <a:lnSpc>
                <a:spcPts val="2250"/>
              </a:lnSpc>
              <a:buNone/>
            </a:pPr>
            <a:r>
              <a:rPr lang="en-US" sz="1800" b="1" dirty="0">
                <a:solidFill>
                  <a:srgbClr val="D7D4CC"/>
                </a:solidFill>
                <a:latin typeface="Comfortaa Bold" pitchFamily="34" charset="0"/>
                <a:ea typeface="Comfortaa Bold" pitchFamily="34" charset="-122"/>
                <a:cs typeface="Comfortaa Bold" pitchFamily="34" charset="-120"/>
              </a:rPr>
              <a:t>Security</a:t>
            </a:r>
            <a:endParaRPr lang="en-US" sz="1800" dirty="0"/>
          </a:p>
        </p:txBody>
      </p:sp>
      <p:sp>
        <p:nvSpPr>
          <p:cNvPr id="6" name="Text 2"/>
          <p:cNvSpPr/>
          <p:nvPr/>
        </p:nvSpPr>
        <p:spPr>
          <a:xfrm>
            <a:off x="928568" y="5575459"/>
            <a:ext cx="3982641" cy="660083"/>
          </a:xfrm>
          <a:prstGeom prst="rect">
            <a:avLst/>
          </a:prstGeom>
          <a:noFill/>
          <a:ln/>
        </p:spPr>
        <p:txBody>
          <a:bodyPr wrap="square" lIns="0" tIns="0" rIns="0" bIns="0" rtlCol="0" anchor="t"/>
          <a:lstStyle/>
          <a:p>
            <a:pPr marL="0" indent="0" algn="l">
              <a:lnSpc>
                <a:spcPts val="2600"/>
              </a:lnSpc>
              <a:buNone/>
            </a:pPr>
            <a:r>
              <a:rPr lang="en-US" sz="1600" dirty="0">
                <a:solidFill>
                  <a:srgbClr val="D7D4CC"/>
                </a:solidFill>
                <a:latin typeface="Raleway Medium" pitchFamily="34" charset="0"/>
                <a:ea typeface="Raleway Medium" pitchFamily="34" charset="-122"/>
                <a:cs typeface="Raleway Medium" pitchFamily="34" charset="-120"/>
              </a:rPr>
              <a:t>No actual authentication backend. We are using Mock API.</a:t>
            </a:r>
            <a:endParaRPr lang="en-US" sz="1600" dirty="0"/>
          </a:p>
        </p:txBody>
      </p:sp>
      <p:pic>
        <p:nvPicPr>
          <p:cNvPr id="7" name="Image 2" descr="preencoded.png"/>
          <p:cNvPicPr>
            <a:picLocks noChangeAspect="1"/>
          </p:cNvPicPr>
          <p:nvPr/>
        </p:nvPicPr>
        <p:blipFill>
          <a:blip r:embed="rId5"/>
          <a:stretch>
            <a:fillRect/>
          </a:stretch>
        </p:blipFill>
        <p:spPr>
          <a:xfrm>
            <a:off x="5117544" y="4030027"/>
            <a:ext cx="4395311" cy="825460"/>
          </a:xfrm>
          <a:prstGeom prst="rect">
            <a:avLst/>
          </a:prstGeom>
        </p:spPr>
      </p:pic>
      <p:sp>
        <p:nvSpPr>
          <p:cNvPr id="8" name="Text 3"/>
          <p:cNvSpPr/>
          <p:nvPr/>
        </p:nvSpPr>
        <p:spPr>
          <a:xfrm>
            <a:off x="5323880" y="5165050"/>
            <a:ext cx="2293025" cy="286583"/>
          </a:xfrm>
          <a:prstGeom prst="rect">
            <a:avLst/>
          </a:prstGeom>
          <a:noFill/>
          <a:ln/>
        </p:spPr>
        <p:txBody>
          <a:bodyPr wrap="none" lIns="0" tIns="0" rIns="0" bIns="0" rtlCol="0" anchor="t"/>
          <a:lstStyle/>
          <a:p>
            <a:pPr marL="0" indent="0" algn="l">
              <a:lnSpc>
                <a:spcPts val="2250"/>
              </a:lnSpc>
              <a:buNone/>
            </a:pPr>
            <a:r>
              <a:rPr lang="en-US" sz="1800" b="1" dirty="0">
                <a:solidFill>
                  <a:srgbClr val="D7D4CC"/>
                </a:solidFill>
                <a:latin typeface="Comfortaa Bold" pitchFamily="34" charset="0"/>
                <a:ea typeface="Comfortaa Bold" pitchFamily="34" charset="-122"/>
                <a:cs typeface="Comfortaa Bold" pitchFamily="34" charset="-120"/>
              </a:rPr>
              <a:t>Performance</a:t>
            </a:r>
            <a:endParaRPr lang="en-US" sz="1800" dirty="0"/>
          </a:p>
        </p:txBody>
      </p:sp>
      <p:sp>
        <p:nvSpPr>
          <p:cNvPr id="9" name="Text 4"/>
          <p:cNvSpPr/>
          <p:nvPr/>
        </p:nvSpPr>
        <p:spPr>
          <a:xfrm>
            <a:off x="5323880" y="5575459"/>
            <a:ext cx="3982641" cy="660083"/>
          </a:xfrm>
          <a:prstGeom prst="rect">
            <a:avLst/>
          </a:prstGeom>
          <a:noFill/>
          <a:ln/>
        </p:spPr>
        <p:txBody>
          <a:bodyPr wrap="square" lIns="0" tIns="0" rIns="0" bIns="0" rtlCol="0" anchor="t"/>
          <a:lstStyle/>
          <a:p>
            <a:pPr marL="0" indent="0" algn="l">
              <a:lnSpc>
                <a:spcPts val="2600"/>
              </a:lnSpc>
              <a:buNone/>
            </a:pPr>
            <a:r>
              <a:rPr lang="en-US" sz="1600" dirty="0">
                <a:solidFill>
                  <a:srgbClr val="D7D4CC"/>
                </a:solidFill>
                <a:latin typeface="Raleway Medium" pitchFamily="34" charset="0"/>
                <a:ea typeface="Raleway Medium" pitchFamily="34" charset="-122"/>
                <a:cs typeface="Raleway Medium" pitchFamily="34" charset="-120"/>
              </a:rPr>
              <a:t>Large product lists may affect frontend performance.</a:t>
            </a:r>
            <a:endParaRPr lang="en-US" sz="1600" dirty="0"/>
          </a:p>
        </p:txBody>
      </p:sp>
      <p:pic>
        <p:nvPicPr>
          <p:cNvPr id="10" name="Image 3" descr="preencoded.png"/>
          <p:cNvPicPr>
            <a:picLocks noChangeAspect="1"/>
          </p:cNvPicPr>
          <p:nvPr/>
        </p:nvPicPr>
        <p:blipFill>
          <a:blip r:embed="rId6"/>
          <a:stretch>
            <a:fillRect/>
          </a:stretch>
        </p:blipFill>
        <p:spPr>
          <a:xfrm>
            <a:off x="9512856" y="4030027"/>
            <a:ext cx="4395311" cy="825460"/>
          </a:xfrm>
          <a:prstGeom prst="rect">
            <a:avLst/>
          </a:prstGeom>
        </p:spPr>
      </p:pic>
      <p:sp>
        <p:nvSpPr>
          <p:cNvPr id="11" name="Text 5"/>
          <p:cNvSpPr/>
          <p:nvPr/>
        </p:nvSpPr>
        <p:spPr>
          <a:xfrm>
            <a:off x="9719191" y="5165050"/>
            <a:ext cx="2548652" cy="286583"/>
          </a:xfrm>
          <a:prstGeom prst="rect">
            <a:avLst/>
          </a:prstGeom>
          <a:noFill/>
          <a:ln/>
        </p:spPr>
        <p:txBody>
          <a:bodyPr wrap="none" lIns="0" tIns="0" rIns="0" bIns="0" rtlCol="0" anchor="t"/>
          <a:lstStyle/>
          <a:p>
            <a:pPr marL="0" indent="0" algn="l">
              <a:lnSpc>
                <a:spcPts val="2250"/>
              </a:lnSpc>
              <a:buNone/>
            </a:pPr>
            <a:r>
              <a:rPr lang="en-US" sz="1800" b="1" dirty="0">
                <a:solidFill>
                  <a:srgbClr val="D7D4CC"/>
                </a:solidFill>
                <a:latin typeface="Comfortaa Bold" pitchFamily="34" charset="0"/>
                <a:ea typeface="Comfortaa Bold" pitchFamily="34" charset="-122"/>
                <a:cs typeface="Comfortaa Bold" pitchFamily="34" charset="-120"/>
              </a:rPr>
              <a:t>Future Improvements</a:t>
            </a:r>
            <a:endParaRPr lang="en-US" sz="1800" dirty="0"/>
          </a:p>
        </p:txBody>
      </p:sp>
      <p:sp>
        <p:nvSpPr>
          <p:cNvPr id="12" name="Text 6"/>
          <p:cNvSpPr/>
          <p:nvPr/>
        </p:nvSpPr>
        <p:spPr>
          <a:xfrm>
            <a:off x="9719191" y="5575459"/>
            <a:ext cx="3982641" cy="990124"/>
          </a:xfrm>
          <a:prstGeom prst="rect">
            <a:avLst/>
          </a:prstGeom>
          <a:noFill/>
          <a:ln/>
        </p:spPr>
        <p:txBody>
          <a:bodyPr wrap="square" lIns="0" tIns="0" rIns="0" bIns="0" rtlCol="0" anchor="t"/>
          <a:lstStyle/>
          <a:p>
            <a:pPr marL="0" indent="0" algn="l">
              <a:lnSpc>
                <a:spcPts val="2600"/>
              </a:lnSpc>
              <a:buNone/>
            </a:pPr>
            <a:r>
              <a:rPr lang="en-US" sz="1600" dirty="0">
                <a:solidFill>
                  <a:srgbClr val="D7D4CC"/>
                </a:solidFill>
                <a:latin typeface="Raleway Medium" pitchFamily="34" charset="0"/>
                <a:ea typeface="Raleway Medium" pitchFamily="34" charset="-122"/>
                <a:cs typeface="Raleway Medium" pitchFamily="34" charset="-120"/>
              </a:rPr>
              <a:t>Integrate with a real database (e.g., Firebase, MongoDB, SQL). Implement role-based access control.</a:t>
            </a:r>
            <a:endParaRPr lang="en-US" sz="1600" dirty="0"/>
          </a:p>
        </p:txBody>
      </p:sp>
      <p:sp>
        <p:nvSpPr>
          <p:cNvPr id="13" name="Text 7"/>
          <p:cNvSpPr/>
          <p:nvPr/>
        </p:nvSpPr>
        <p:spPr>
          <a:xfrm>
            <a:off x="722233" y="7004090"/>
            <a:ext cx="13185934" cy="660083"/>
          </a:xfrm>
          <a:prstGeom prst="rect">
            <a:avLst/>
          </a:prstGeom>
          <a:noFill/>
          <a:ln/>
        </p:spPr>
        <p:txBody>
          <a:bodyPr wrap="square" lIns="0" tIns="0" rIns="0" bIns="0" rtlCol="0" anchor="t"/>
          <a:lstStyle/>
          <a:p>
            <a:pPr marL="0" indent="0" algn="l">
              <a:lnSpc>
                <a:spcPts val="2600"/>
              </a:lnSpc>
              <a:buNone/>
            </a:pPr>
            <a:r>
              <a:rPr lang="en-US" sz="1600" dirty="0">
                <a:solidFill>
                  <a:srgbClr val="D7D4CC"/>
                </a:solidFill>
                <a:latin typeface="Raleway Medium" pitchFamily="34" charset="0"/>
                <a:ea typeface="Raleway Medium" pitchFamily="34" charset="-122"/>
                <a:cs typeface="Raleway Medium" pitchFamily="34" charset="-120"/>
              </a:rPr>
              <a:t>Potential issues include security vulnerabilities due to the mock API and performance issues with large product lists. Future improvements include integrating with a real database and implementing role-based access control.</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774</Words>
  <Application>Microsoft Office PowerPoint</Application>
  <PresentationFormat>Custom</PresentationFormat>
  <Paragraphs>66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Comfortaa Bold</vt:lpstr>
      <vt:lpstr>Consolas Medium</vt:lpstr>
      <vt:lpstr>Raleway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Arijit Basak</cp:lastModifiedBy>
  <cp:revision>2</cp:revision>
  <dcterms:created xsi:type="dcterms:W3CDTF">2025-03-16T21:59:12Z</dcterms:created>
  <dcterms:modified xsi:type="dcterms:W3CDTF">2025-03-16T22:00:53Z</dcterms:modified>
</cp:coreProperties>
</file>